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</a:t>
            </a:r>
          </a:p>
          <a:p/>
          <a:p>
            <a:r>
              <a:t>Abertura em 1 minuto. Não falar da Nouvenn ainda. A pergunta para a sala: "Quem aqui já ouviu um síndico ou um administrador de shopping reclamar da conta de água?" Contar as mãos 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do dia</a:t>
            </a:r>
          </a:p>
          <a:p/>
          <a:p>
            <a:r>
              <a:t>Combinar com a sala: no fim, cada vendedor sai sabendo reconhecer a dor, fazer seis perguntas e acionar o BDM. Avisar que haverá dois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1 · Quem é a Nouvenn</a:t>
            </a:r>
          </a:p>
          <a:p/>
          <a:p>
            <a:r>
              <a:t>Transição curta. A Nouvenn entra como quem viabiliza a medição, depois que o problema do cliente já está na 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a Nouvenn opera</a:t>
            </a:r>
          </a:p>
          <a:p/>
          <a:p>
            <a:r>
              <a:t>Números do deck institucional da Nouvenn, confirmados em 14/10/2026: +30 PPPs de iluminação pública e 1.700 localidades atendidas no Paraná (localidades, não municípios).</a:t>
            </a:r>
          </a:p>
          <a:p>
            <a:r>
              <a:t>Mapa das praças do painel comercial Nouvenn (só localização; sem valores ou clientes).</a:t>
            </a:r>
          </a:p>
          <a:p>
            <a:r>
              <a:t>Passe o mouse num ponto para ver a cidade.</a:t>
            </a:r>
          </a:p>
          <a:p>
            <a:r>
              <a:t>Mensagem: onde o cliente da Vivo estiver, provavelmente já existe operação Nouvenn perto.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Cases</a:t>
            </a:r>
          </a:p>
          <a:p/>
          <a:p>
            <a:r>
              <a:t>Para este público, os três primeiros (em azul) são os que importam: é a mesma arquitetura dos casos de shopping e de canteiro. Sabesp com 25 mil unidades é a prova de escala.</a:t>
            </a:r>
          </a:p>
          <a:p>
            <a:r>
              <a:t>Passe o mouse ou clique em cada cliente para trocar a ilustração.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 própria</a:t>
            </a:r>
          </a:p>
          <a:p/>
          <a:p>
            <a:r>
              <a:t>Single Point of Contact: um só responsável do projeto ao campo. Trusted Advisor: a Nouvenn orienta a melhor solução, com engenharia própria.</a:t>
            </a:r>
          </a:p>
          <a:p>
            <a:r>
              <a:t>Mensagem para o vendedor: dispositivo, plataforma e campo vêm da Nouvenn; conectividade e relação com o cliente ficam com a Vivo.</a:t>
            </a:r>
          </a:p>
          <a:p>
            <a:r>
              <a:t>Se perguntarem: a Nouvenn atende mais de 30 PPPs de iluminação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Serviços Nouvenn</a:t>
            </a:r>
          </a:p>
          <a:p/>
          <a:p>
            <a:r>
              <a:t>A mesma cidade 3D do painel comercial Nouvenn. Clique nos pontos ou na lista: cada serviço mostra o que faz, os produtos e um cliente em operação.</a:t>
            </a:r>
          </a:p>
          <a:p>
            <a:r>
              <a:t>As duas primeiras linhas (utilidades e ativos) são o centro da conversa de real estate; iluminação e agroclimático servem a outros vendedores da Vivo e têm slides próprios na 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 1 · Monitoramento e gestão de utilidades</a:t>
            </a:r>
          </a:p>
          <a:p/>
          <a:p>
            <a:r>
              <a:t>Serviço de entrada para real estate: é o que resolve o rateio e o vazamento.</a:t>
            </a:r>
          </a:p>
          <a:p>
            <a:r>
              <a:t>Clientes em operação: Sabesp (mais de 25 mil unidades), Sanepar, Gasmig, Sulgas e Ultragaz.</a:t>
            </a:r>
          </a:p>
          <a:p>
            <a:r>
              <a:t>A forma de leitura depende do medidor: SPC se tem pulso, AquaCap se não tem, NIC se o medidor é novo. Cada ponto é uma linha Vivo NB-IoT ou LTE-M.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 2 · Telegestão de iluminação pública</a:t>
            </a:r>
          </a:p>
          <a:p/>
          <a:p>
            <a:r>
              <a:t>Para o vendedor que atende prefeituras e concessionárias de PPP. Com NB-IoT, cada controlador de luminária (SLC) é uma linha Vivo.</a:t>
            </a:r>
          </a:p>
          <a:p>
            <a:r>
              <a:t>Onde não há cobertura, as opções em malha (Zigbee e Wi-SUN) usam um gateway com conexão celular.</a:t>
            </a:r>
          </a:p>
          <a:p>
            <a:r>
              <a:t>Prêmio Parceiro Responsável ENEL 2023/2024 e atestado de capacidade técnica da ENEL X (Luz de Caruaru).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Ativos: do campo ao sistema do cliente</a:t>
            </a:r>
          </a:p>
          <a:p/>
          <a:p>
            <a:r>
              <a:t>Arquitetura do quadro inteligente, da esquerda para a direita.</a:t>
            </a:r>
          </a:p>
          <a:p>
            <a:r>
              <a:t>Campo: o que o cliente já tem. Sensores (pressão, nível, temperatura, corrente), equipamentos com Modbus (multimedidor, inversor, CLP) e cargas que a Nouvenn pode comandar.</a:t>
            </a:r>
          </a:p>
          <a:p>
            <a:r>
              <a:t>Quadro: o mesmo do slide "O quadro de ativos", no bloco Como entregamos. M31 para os sinais, conversor RS-485 para o Modbus, roteador industrial e no-break.</a:t>
            </a:r>
          </a:p>
          <a:p>
            <a:r>
              <a:t>Rede: LTE da Vivo como link principal, com VPN. Satélite ou fibra como backup onde a operação exige.</a:t>
            </a:r>
          </a:p>
          <a:p>
            <a:r>
              <a:t>Nouvenn: OMNICORTEX para o operador e o Gateway Server, que entrega os dados por OPC UA e gerencia os roteadores por SNMP.</a:t>
            </a:r>
          </a:p>
          <a:p>
            <a:r>
              <a:t>Cliente: o SCADA (ex.: iFIX, Proficy Historian) lê por OPC UA, o NOC acompanha links e roteadores, e a equipe de campo usa o Field Work App.</a:t>
            </a:r>
          </a:p>
          <a:p>
            <a:r>
              <a:t>Cenários típicos: CLP, inversor de frequência, módulos de I/O e grupo gerador.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 4 · Monitoramento agroclimático</a:t>
            </a:r>
          </a:p>
          <a:p/>
          <a:p>
            <a:r>
              <a:t>Para o vendedor que atende agronegócio, concessionárias de rodovia e defesa civil. Cada estação usa uma linha LTE da Vivo, em APN privada, com MQTT.</a:t>
            </a:r>
          </a:p>
          <a:p>
            <a:r>
              <a:t>O cliente escolhe os módulos: solo e plantação, clima expandido e nível de 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Serviço 5 · Projetos especiais</a:t>
            </a:r>
          </a:p>
          <a:p/>
          <a:p>
            <a:r>
              <a:t>Projetos desenhados para o cliente, com hardware, firmware e plataforma da Nouvenn.</a:t>
            </a:r>
          </a:p>
          <a:p>
            <a:r>
              <a:t>Estacionamento: sensor de presença por vaga e controle de acesso, com a ocupação no painel.</a:t>
            </a:r>
          </a:p>
          <a:p>
            <a:r>
              <a:t>Painel único de integração: luminotécnica, alarmística, consumo e automação na mesma tela.</a:t>
            </a:r>
          </a:p>
          <a:p>
            <a:r>
              <a:t>Outro exemplo de projeto especial já entregue: rede privativa para veículos autônomos da Stellantis.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2 · Contexto, mercado e setor</a:t>
            </a:r>
          </a:p>
          <a:p/>
          <a:p>
            <a:r>
              <a:t>Agora o cliente do vendedor: dois mercados dentro da mesma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paga a conta hoje</a:t>
            </a:r>
          </a:p>
          <a:p/>
          <a:p>
            <a:r>
              <a:t>Esta é a proposta de valor do deck, dita com um exemplo concreto: um hidrômetro, 180 lojas, rateio por m².</a:t>
            </a:r>
          </a:p>
          <a:p>
            <a:r>
              <a:t>Embaixo, os dois lados do mesmo problema: na obra, a construtora divide o canteiro por estimativa; no imóvel em operação, a administradora divide por área.</a:t>
            </a:r>
          </a:p>
          <a:p>
            <a:r>
              <a:t>Frase para o vendedor repetir ao cliente: "ninguém responde pela diferença entre o que gastou e o que pagou".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mudou em 2026</a:t>
            </a:r>
          </a:p>
          <a:p/>
          <a:p>
            <a:r>
              <a:t>Aqui se fala do mundo do cliente, não da Nouvenn.</a:t>
            </a:r>
          </a:p>
          <a:p>
            <a:r>
              <a:t>Energia: a ANEEL subiu a projeção de 8% (março) para 9,4% (setembro).</a:t>
            </a:r>
          </a:p>
          <a:p>
            <a:r>
              <a:t>Mercado livre: 92% dos shoppings já compram energia livre. O que muda em 2027 é para o lojista de rua e o pequeno comércio.</a:t>
            </a:r>
          </a:p>
          <a:p>
            <a:r>
              <a:t>Lei 13.312: obriga o hidrômetro individual, não a leitura remota. É aí que entra a conectividade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e com medição</a:t>
            </a:r>
          </a:p>
          <a:p/>
          <a:p>
            <a:r>
              <a:t>Pergunta para a sala: "Qual dessas linhas o seu cliente sente hoje?" Anotar as respostas; elas voltam no bloco de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Mercado-alvo</a:t>
            </a:r>
          </a:p>
          <a:p/>
          <a:p>
            <a:r>
              <a:t>Shopping: 92% já compram energia no mercado livre (Abrasce). A energia já tem gestão profissional; o argumento em shopping é rateio justo e prova de consumo, não tarifa.</a:t>
            </a:r>
          </a:p>
          <a:p>
            <a:r>
              <a:t>Construção: recorde de lançamentos mesmo com juros altos. A CBIC previa 2% de crescimento em 2026 e revisou para 1,2% em maio, por causa dos custos.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Edifícios e condomínios</a:t>
            </a:r>
          </a:p>
          <a:p/>
          <a:p>
            <a:r>
              <a:t>Os dados de edifícios que justificam o negócio, todos com fonte no slide e no fim do deck.</a:t>
            </a:r>
          </a:p>
          <a:p>
            <a:r>
              <a:t>51%: a EPE (Atlas da Eficiência Energética, edições 2019 e 2021) atribui às edificações 51% da eletricidade do país; reportagens de 2025 falam em "quase metade".</a:t>
            </a:r>
          </a:p>
          <a:p>
            <a:r>
              <a:t>Condomínios: o Censo Condominial 2025/2026 usa dados do IBGE, da Receita Federal e da uCondo. Taxa média de cerca de R$ 413 (2022) para R$ 516 (2025).</a:t>
            </a:r>
          </a:p>
          <a:p>
            <a:r>
              <a:t>Medição individual: TCC de Engenharia Civil da UFPB (2025), 18 condomínios verticais em João Pessoa, 21 meses: 15% menos consumo nos prédios com medição individual. Números de mercado de 30% a 40% de economia não têm metodologia publicada; não usar.</a:t>
            </a:r>
          </a:p>
          <a:p>
            <a:r>
              <a:t>Obra: estudo em três obras de Maringá; outros estudos brasileiros acham de 0,14 a 0,38 m³/m². Para uma torre de 20 mil m², são de 4 a 5 mil m³ de água no canteiro.</a:t>
            </a:r>
          </a:p>
          <a:p>
            <a:r>
              <a:t>Mensagem: condomínio caro e inadimplência alta são a dor do síndico e da administradora; medição individual reduz consumo e dá o número para cobrar de quem gastou.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Tamanho da oportunidade</a:t>
            </a:r>
          </a:p>
          <a:p/>
          <a:p>
            <a:r>
              <a:t>No deck original, o ganho da Vivo ficava num rodapé. Para o vendedor, este é o slide que mostra onde está a comissão.</a:t>
            </a:r>
          </a:p>
          <a:p>
            <a:r>
              <a:t>250 mil = 124,7 mil lojas × 2 utilidades = 249,4 mil. É ordem de grandeza, não meta.</a:t>
            </a:r>
          </a:p>
          <a:p>
            <a:r>
              <a:t>Crescimento Vivo: 9,465 ÷ 8,178 = 1,157, ou seja, +15,7%.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cadeia e as dores</a:t>
            </a:r>
          </a:p>
          <a:p/>
          <a:p>
            <a:r>
              <a:t>Pergunta-chave para o vendedor fazer ao cliente: "Quem paga a conta de água hoje?" Na obra, a construtora. No imóvel em operação, a administradora, que divide por área.</a:t>
            </a:r>
          </a:p>
          <a:p>
            <a:r>
              <a:t>Com borda âmbar está a dor de cada um; abaixo, os serviços que a resolvem.</a:t>
            </a:r>
          </a:p>
          <a:p>
            <a:r>
              <a:t>Facilities é quem usa mais serviços, porque é quem pode levar a solução para vários prédios.</a:t>
            </a:r>
          </a:p>
          <a:p>
            <a:r>
              <a:t>Medição: NOUVENN SPC Manager. Ativos: NOUVENN OMNICORTEX. Integração: NOUVENN Gateway Manager. Iluminação: NLM.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3 · Casos de uso</a:t>
            </a:r>
          </a:p>
          <a:p/>
          <a:p>
            <a:r>
              <a:t>O bloco mais longo (25 min). Começa com a matriz e o exercício de rateio.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1 · Rateio</a:t>
            </a:r>
          </a:p>
          <a:p/>
          <a:p>
            <a:r>
              <a:t>Peça para alguém da sala mexer.</a:t>
            </a:r>
          </a:p>
          <a:p>
            <a:r>
              <a:t>1. Aumente o consumo da praça de alimentação: o vestuário passa a pagar parte da água dela.</a:t>
            </a:r>
          </a:p>
          <a:p>
            <a:r>
              <a:t>2. Ligue o vazamento: no rateio por área, o custo do vazamento é dividido entre as quatro lojas. Com medição, aparece na loja certa.</a:t>
            </a:r>
          </a:p>
          <a:p>
            <a:r>
              <a:t>A linha de total mostra que a fatura é a mesma nos dois critérios; só muda quem paga.</a:t>
            </a:r>
          </a:p>
          <a:p>
            <a:r>
              <a:t>Conta: fatura = soma do consumo × R$ 20. Por área, cada loja paga fatura × área da loja ÷ área total. Por medição, consumo × R$ 20.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casos de uso</a:t>
            </a:r>
          </a:p>
          <a:p/>
          <a:p>
            <a:r>
              <a:t>Use → e ← para passar pelos cinco casos; depois do quinto, → segue para o próximo slide.</a:t>
            </a:r>
          </a:p>
          <a:p>
            <a:r>
              <a:t>Caso 1 · Água por loja: Mesma arquitetura da telemetria de água da Sabesp (25 mil unidades) e de gás em condomínios. É o caso de entrada mais fácil: não tem obra e o resultado aparece no primeiro mês.</a:t>
            </a:r>
          </a:p>
          <a:p>
            <a:r>
              <a:t>Caso 2 · Energia por sistema: Gancho do mercado livre: o shopping já compra energia no mercado livre, mas, para repassar o custo a cada lojista e negociar o contrato, precisa saber o consumo por sistema e por loja.</a:t>
            </a:r>
          </a:p>
          <a:p>
            <a:r>
              <a:t>Caso 3 · Equipamentos críticos: A Nouvenn já faz isso em quadros de iluminação pública, saneamento, indústria, agências bancárias e rodovias. É o caso para ampliar uma conta que começou em medição.</a:t>
            </a:r>
          </a:p>
          <a:p>
            <a:r>
              <a:t>Caso 4 · Canteiro de obra: Argumento da Vivo: no canteiro, a rede celular é a única que existe. E o equipamento sai de uma obra e vai para a próxima.</a:t>
            </a:r>
          </a:p>
          <a:p>
            <a:r>
              <a:t>Para a incorporadora: aproveitar a obra para entregar o prédio já com medição, sem custo de adaptação depois.</a:t>
            </a:r>
          </a:p>
          <a:p>
            <a:r>
              <a:t>Caso 5 · Carteira de prédios: É o caso que mais multiplica conexões: uma decisão vale para a carteira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Benefícios</a:t>
            </a:r>
          </a:p>
          <a:p/>
          <a:p>
            <a:r>
              <a:t>Fecha o bloco de casos. Perguntar à sala qual benefício cada um usaria com a própria carteira.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 · Como entregamos</a:t>
            </a:r>
          </a:p>
          <a:p/>
          <a:p>
            <a:r>
              <a:t>Bloco curto (10 min). O vendedor não precisa dominar a parte técnica; precisa confiar que ela existe e saber quem responde por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equipamento ao NOUMIND</a:t>
            </a:r>
          </a:p>
          <a:p/>
          <a:p>
            <a:r>
              <a:t>Leitura da esquerda para a direita: o que o cliente já tem, o que a Nouvenn instala, a rede Vivo no meio e a aplicação NOUMIND de cada serviço.</a:t>
            </a:r>
          </a:p>
          <a:p>
            <a:r>
              <a:t>A animação percorre as quatro linhas sozinha; clique numa delas para fixar.</a:t>
            </a:r>
          </a:p>
          <a:p>
            <a:r>
              <a:t>Papéis: a Vivo responde pela etapa 3 e pela relação com o cliente; a Nouvenn pelas etapas 2 e 4 e pelo campo.</a:t>
            </a:r>
          </a:p>
          <a:p>
            <a:r>
              <a:t>Ativos, em detalhe:</a:t>
            </a:r>
          </a:p>
          <a:p>
            <a:r>
              <a:t>- WLM: entradas e saídas digitais de contato seco; funciona como um CLP virtual entre nós. Ex.: o WLM no reservatório detecta nível baixo, avisa a plataforma, e o WLM na casa de bombas liga a bomba.</a:t>
            </a:r>
          </a:p>
          <a:p>
            <a:r>
              <a:t>- Gateway-IO: várias entradas analógicas, entradas e saídas digitais e RS-485; alimentado pela rede elétrica; para monitorar muitas variáveis.</a:t>
            </a:r>
          </a:p>
          <a:p>
            <a:r>
              <a:t>- Gateway-Eco: menos entradas e saídas, funciona só a bateria; para locais sem energia elétrica.</a:t>
            </a:r>
          </a:p>
          <a:p>
            <a:r>
              <a:t>Todos operam por LTE ou NB-IoT.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Ecossistema NOUMIND</a:t>
            </a:r>
          </a:p>
          <a:p/>
          <a:p>
            <a:r>
              <a:t>Estrutura da apresentação institucional Nouvenn v7.</a:t>
            </a:r>
          </a:p>
          <a:p>
            <a:r>
              <a:t>De baixo para cima: dispositivos (Nouvenn ou de outros fabricantes), a base NOUMIND (aplicativo de campo, middleware/broker e Panel Content), os add-ons (SentinAI e MDA) e, em cima, a aplicação de cada serviço.</a:t>
            </a:r>
          </a:p>
          <a:p>
            <a:r>
              <a:t>SentinAI: observabilidade, integração com operadoras e gestão de conectividade. MDA (Meter Data Analytics): montagem de modelos, testes estatísticos e tendências com IA e ML.</a:t>
            </a:r>
          </a:p>
          <a:p>
            <a:r>
              <a:t>À direita, o que sustenta tudo: cibersegurança, operação de campo e serviços de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formas de ler o medidor</a:t>
            </a:r>
          </a:p>
          <a:p/>
          <a:p>
            <a:r>
              <a:t>SPC: lê o pulso de medidores que já têm essa saída (água, gás, energia).</a:t>
            </a:r>
          </a:p>
          <a:p>
            <a:r>
              <a:t>AquaCap: para hidrômetros sem saída de pulso; lê o movimento do medidor.</a:t>
            </a:r>
          </a:p>
          <a:p>
            <a:r>
              <a:t>NIC: módulo embarcado no próprio medidor, para medidores inteligentes novos.</a:t>
            </a:r>
          </a:p>
          <a:p>
            <a:r>
              <a:t>Em shopping com hidrômetros antigos, AquaCap evita trocar o medidor. Em obra nova, NIC já sai no medidor.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quadro de ativos</a:t>
            </a:r>
          </a:p>
          <a:p/>
          <a:p>
            <a:r>
              <a:t>Foto de um quadro Nouvenn real de monitoramento e automação de ativos. É o "quadro com telemetria" dos casos 3 e 5.</a:t>
            </a:r>
          </a:p>
          <a:p>
            <a:r>
              <a:t>Os números marcam: 1 inversor, 2 proteção (DPS e disjuntor), 3 no-break, 4 M31, 5 roteador, 6 conversor RS-485/Ethernet, 7 relés de interface.</a:t>
            </a:r>
          </a:p>
          <a:p>
            <a:r>
              <a:t>Mensagem para o vendedor: a Nouvenn entrega o quadro montado, instala e opera.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Plataforma</a:t>
            </a:r>
          </a:p>
          <a:p/>
          <a:p>
            <a:r>
              <a:t>Clique em cada item à esquerda para trocar a tela.</a:t>
            </a:r>
          </a:p>
          <a:p>
            <a:r>
              <a:t>Se perguntarem: há ainda o SentinAI (monitora a saúde dos próprios dispositivos) e o MDA (análise de comportamento de equipamentos com 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Diferenciais e instalações</a:t>
            </a:r>
          </a:p>
          <a:p/>
          <a:p>
            <a:r>
              <a:t>Fotos de campo da Nouvenn, à direita. Clique numa foto para ampliar. Ponto para o vendedor: na maioria dos casos não há obra civil.</a:t>
            </a:r>
          </a:p>
          <a:p>
            <a:r>
              <a:t>Medidores: água com saída de pulso, gás com emissor (inclusive à prova de explosão) e energia por multimedidor Modbus.</a:t>
            </a:r>
          </a:p>
          <a:p>
            <a:r>
              <a:t>Parcerias de desenvolvimento: Senai CIMATEC (controlador de iluminação e medidor remoto de água e gás) e INATEL (gateway IoT).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5 · A oportunidade</a:t>
            </a:r>
          </a:p>
          <a:p/>
          <a:p>
            <a:r>
              <a:t>Último bloco, 20 min, o mais prático. Começa com o exercício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Exercício 2 · Três cenários</a:t>
            </a:r>
          </a:p>
          <a:p/>
          <a:p>
            <a:r>
              <a:t>Leia o cenário em voz alta, deixe a sala discutir 1 minuto e só então clique.</a:t>
            </a:r>
          </a:p>
          <a:p>
            <a:r>
              <a:t>Resposta em azul-claro = parcialmente certa (resolve, mas não é o melhor caminho).</a:t>
            </a:r>
          </a:p>
          <a:p>
            <a:r>
              <a:t>1: AquaCap (hidrômetro sem pulso). 2: quadro Nouvenn com M31 e conversor RS-485, no OMNICORTEX. 3: NIC nas casas e SLC nas ruas (duas frentes, um cliente).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perguntas</a:t>
            </a:r>
          </a:p>
          <a:p/>
          <a:p>
            <a:r>
              <a:t>Nenhuma pergunta exige conhecimento técnico. Com as seis respostas, a pré-venda da Nouvenn devolve a arquitetura e a estimativa.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de passagem</a:t>
            </a:r>
          </a:p>
          <a:p/>
          <a:p>
            <a:r>
              <a:t>Usar com uma conta real de alguém da sala, marcando ao vivo. Os itens marcados entram na ficha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Ficha para o BDM</a:t>
            </a:r>
          </a:p>
          <a:p/>
          <a:p>
            <a:r>
              <a:t>A ficha conta pontos, não calcula preço. Preço e plano de conectividade saem da pré-venda Nouvenn com o BDM.</a:t>
            </a:r>
          </a:p>
          <a:p>
            <a:r>
              <a:t>Regras da conta:</a:t>
            </a:r>
          </a:p>
          <a:p>
            <a:r>
              <a:t>- Shopping: lojas × utilidades + áreas comuns.</a:t>
            </a:r>
          </a:p>
          <a:p>
            <a:r>
              <a:t>- Condomínio: unidades × (água e gás, se marcados) + áreas comuns. A energia de cada apartamento já é medida pela distribuidora, então só entra a das áreas comuns.</a:t>
            </a:r>
          </a:p>
          <a:p>
            <a:r>
              <a:t>- Obra: frentes × utilidades + centrais.</a:t>
            </a:r>
          </a:p>
          <a:p>
            <a:r>
              <a:t>- Carteira: prédios × pontos por prédio.</a:t>
            </a:r>
          </a:p>
          <a:p>
            <a:r>
              <a:t>Total = pontos de medição + equipamentos monitorados.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</a:t>
            </a:r>
          </a:p>
          <a:p/>
          <a:p>
            <a:r>
              <a:t>Frase institucional da Nouvenn, do deck original. Abrir para perguntas e confirmar as três contas e o próximo passo com o BDM.</a:t>
            </a:r>
          </a:p>
          <a:p>
            <a:r>
              <a:t>A assinatura animada é a mesma da Apresentação Padrão da Nouvenn.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</a:t>
            </a:r>
          </a:p>
          <a:p/>
          <a:p>
            <a:r>
              <a:t>Slide de apoio para perguntas. Não precisa apresentar.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rot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numer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stru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ervic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vc-ut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vc-il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tivos-ar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vc-ag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vc-es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te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ontex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hoje-depo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merc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edific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tamanh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ade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rate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as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benefic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arquite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noum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lei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quad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platafor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diferenci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qui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pergunt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heck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fi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f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fo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